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耗时 (s)</c:v>
                </c:pt>
              </c:strCache>
            </c:strRef>
          </c:tx>
          <c:spPr>
            <a:solidFill>
              <a:srgbClr val="FB85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230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4.68</c:v>
                </c:pt>
                <c:pt idx="1">
                  <c:v>18.89</c:v>
                </c:pt>
                <c:pt idx="2">
                  <c:v>24.57</c:v>
                </c:pt>
                <c:pt idx="3">
                  <c:v>96.64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230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两轮平衡赛车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 + 真实 STM32F407 固件在 Renode 中执行 + build123d CAD 单一几何源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0" y="822960"/>
            <a:ext cx="2103120" cy="3520440"/>
          </a:xfrm>
          <a:prstGeom prst="rect">
            <a:avLst>
              <a:gd name="adj" fmla="val 5217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三控制器槽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15087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4848" y="15636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837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控制算法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4231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2478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7523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 (调参)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3375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6667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1206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github.com/superfansizhe-beep/mujoco-renode-twin   |   MIT License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为什么要做数字孪生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E8F1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实物调参循环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烧录板子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放上赛道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392424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9242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一轮数分钟, 失败后无法定位是哪一环出错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数字孪生调参循环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37760" y="173736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7373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Python 参数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251460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514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仿真里秒级验证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0" y="329184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91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不满意立即重试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跑的不是仿真控制器, 而是能烧进板子的那份真实固件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物理侧永远不变, 大脑可插, 数据每 5ms 交互一次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82296" cy="868680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35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车的身体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算重力 / 摩擦 / 电机扭矩, 200Hz 推进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70448" y="1600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82296" cy="86868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(三选一)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车的大脑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57860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只拿原始传感器, 只输出电机占空比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0448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29000"/>
            <a:ext cx="82296" cy="868680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查看器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你的眼睛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浏览器里 3D 实时观察, 30Hz 状态帧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325880"/>
            <a:ext cx="2423160" cy="3017520"/>
          </a:xfrm>
          <a:prstGeom prst="rect">
            <a:avLst>
              <a:gd name="adj" fmla="val 3774"/>
            </a:avLst>
          </a:prstGeom>
          <a:solidFill>
            <a:srgbClr val="023047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5 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 IMU 输出速率就是 200 Hz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2560320"/>
            <a:ext cx="205740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仿真节拍必须与真硬件一致, 否则时序不真实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车歪超过 55 度强制输出 0, 防翻车疯转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核心机制: 三个可互换的控制器槽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物理侧完全不变, 三者走同一个接口  controller.step(sensor) -&gt; motor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快速验证环境是否通畅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日常调参, 最快, 无需交叉编译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验证烧到车上就是这个行为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分钟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7863840" cy="777240"/>
          </a:xfrm>
          <a:prstGeom prst="rect">
            <a:avLst>
              <a:gd name="adj" fmla="val 9412"/>
            </a:avLst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parity-gated: 三槽同接口, 同一场景跑三份, 输出曲线逐点一致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44622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这就证明了: 电脑上调的参数 = 真车行为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固件在环: 自研 C# 外设模型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在 PC 上模拟 STM32F407, 真实固件二进制以为自己跑在芯片上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个手写外设模型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mpu6050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5216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加速度计 + 陀螺仪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38528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1938528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066544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编码器: 数圈数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19856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9856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787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47872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输出PWM给电机的定时器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5216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串口打印日志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38528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8528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2066544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adc_model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66544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测电池电压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19856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419856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i2c_model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47872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I2C 总线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1" name="Text 29"/>
          <p:cNvSpPr/>
          <p:nvPr/>
        </p:nvSpPr>
        <p:spPr>
          <a:xfrm>
            <a:off x="585216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gpio_model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5216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GPIO 电平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938528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4" name="Shape 32"/>
          <p:cNvSpPr/>
          <p:nvPr/>
        </p:nvSpPr>
        <p:spPr>
          <a:xfrm>
            <a:off x="1938528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5" name="Text 33"/>
          <p:cNvSpPr/>
          <p:nvPr/>
        </p:nvSpPr>
        <p:spPr>
          <a:xfrm>
            <a:off x="2066544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iwdg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66544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看门狗(复位)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19856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9856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9" name="Text 37"/>
          <p:cNvSpPr/>
          <p:nvPr/>
        </p:nvSpPr>
        <p:spPr>
          <a:xfrm>
            <a:off x="3547872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rcc_model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47872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时钟树: 看CPU主频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74920" y="1325880"/>
            <a:ext cx="361188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信号流向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303520" y="1874520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5440680" y="19476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传感器进来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203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IMU / 编码器 / 循迹线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03520" y="2715768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5440680" y="2788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固件自己算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40680" y="3044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真实控制代码无感知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03520" y="33558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303520" y="3557016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5440680" y="36301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寄存器出去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40680" y="3886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TIM1 + 驱动寄存器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03520" y="422452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真车接什么线, 模拟器就灌什么信号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参数单一数据源,机器保证不失配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这是孪生能成立的基础: C 固件与 Python 仿真永远用同一套参数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371600"/>
            <a:ext cx="1783080" cy="6400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76148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race_fwconfig.h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6148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自动生成的 C 头文件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71600"/>
            <a:ext cx="1783080" cy="64008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race_fw.elf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5604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交叉编译产物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4088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715060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060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真实固件行为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914400"/>
          </a:xfrm>
          <a:prstGeom prst="rect">
            <a:avLst>
              <a:gd name="adj" fmla="val 9000"/>
            </a:avLst>
          </a:prstGeom>
          <a:solidFill>
            <a:srgbClr val="02304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606040"/>
            <a:ext cx="82296" cy="9144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--check 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13232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手改了 .h 或改了 Python 忘同步 -&gt; 直接 exit 1 报错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race.fwconfig --check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044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exit 0 (参数同步)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每个物理常量都标注来源 (bot/mass_properties.py, 21 处)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7452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6692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有公开来源可查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5" name="Text 33"/>
          <p:cNvSpPr/>
          <p:nvPr/>
        </p:nvSpPr>
        <p:spPr>
          <a:xfrm>
            <a:off x="267004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7764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67004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体积 x 密度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9" name="Text 37"/>
          <p:cNvSpPr/>
          <p:nvPr/>
        </p:nvSpPr>
        <p:spPr>
          <a:xfrm>
            <a:off x="477316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77316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待上秤实测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6656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43" name="Text 41"/>
          <p:cNvSpPr/>
          <p:nvPr/>
        </p:nvSpPr>
        <p:spPr>
          <a:xfrm>
            <a:off x="687628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8388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628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占位, 明确是猜的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7" name="Text 4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机械建模: build123d 单一几何源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车不是画出来的, 是算出来的 -- 同一份尺寸数据同时喂给物理引擎和 3D 查看器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一份数据, 两个出口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4023360" cy="566928"/>
          </a:xfrm>
          <a:prstGeom prst="rect">
            <a:avLst>
              <a:gd name="adj" fmla="val 12903"/>
            </a:avLst>
          </a:prstGeom>
          <a:solidFill>
            <a:srgbClr val="FB8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17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 sheet  (layout.py / 各零件模块)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8" name="Shape 6"/>
          <p:cNvSpPr/>
          <p:nvPr/>
        </p:nvSpPr>
        <p:spPr>
          <a:xfrm>
            <a:off x="370332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1874520" cy="54864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物理碰撞体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 模式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包络体 (Box/Cylinder)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喂给 MuJoCo 算碰撞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77440"/>
            <a:ext cx="1874520" cy="54864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显示模型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576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模式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576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换成厂商真实 STEP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export STEP / GLB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4023360" cy="841248"/>
          </a:xfrm>
          <a:prstGeom prst="rect">
            <a:avLst>
              <a:gd name="adj" fmla="val 8696"/>
            </a:avLst>
          </a:prstGeom>
          <a:solidFill>
            <a:srgbClr val="02304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同一套尺寸, 物理与显示不可能对不上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装错位, 算错质量, 重心偏移都会立刻暴露 -- 而这些数直接决定车能不能站稳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3977640" cy="3255264"/>
          </a:xfrm>
          <a:prstGeom prst="rect">
            <a:avLst>
              <a:gd name="adj" fmla="val 2809"/>
            </a:avLst>
          </a:prstGeom>
          <a:solidFill>
            <a:srgbClr val="E8F1F5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298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买来的零件模型从哪来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1664208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7190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开源仓库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19385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JGB37-520 电机 7 件 / GY-521 / AMS1117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2040" y="2322576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892040" y="2322576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3774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需登录下载, 引擎 LR24 + 尺寸图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0175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三源交叉验证, 法兰尺寸由此定案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尺寸图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08192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24344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8" name="Text 36"/>
          <p:cNvSpPr/>
          <p:nvPr/>
        </p:nvSpPr>
        <p:spPr>
          <a:xfrm>
            <a:off x="7324344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730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三者一致 -&gt; 6 个 M3 孔, 节圆 31mm, 攻丝深 3.5mm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92040" y="4005072"/>
            <a:ext cx="3611880" cy="347472"/>
          </a:xfrm>
          <a:prstGeom prst="rect">
            <a:avLst>
              <a:gd name="adj" fmla="val 15789"/>
            </a:avLst>
          </a:prstGeom>
          <a:solidFill>
            <a:srgbClr val="F7FAFC"/>
          </a:solidFill>
          <a:ln w="9525">
            <a:solidFill>
              <a:srgbClr val="FB85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第三方模型只取用不分发, 碰撞体一律自己算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526280"/>
            <a:ext cx="7863840" cy="384048"/>
          </a:xfrm>
          <a:prstGeom prst="rect">
            <a:avLst>
              <a:gd name="adj" fmla="val 14286"/>
            </a:avLst>
          </a:prstGeom>
          <a:solidFill>
            <a:srgbClr val="FB8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" y="4526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src/cad_modeling/  11 个模块 1246 行 Python -- 用代码写零件, 不是用鼠标点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赛题要求: 小车行驶场地与四项任务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孪生不是自娱自乐的靶场 -- 它逐条复现考题, 并按同一套判分标准打分</a:t>
            </a:r>
            <a:endParaRPr lang="en-US" sz="1200" dirty="0"/>
          </a:p>
        </p:txBody>
      </p:sp>
      <p:pic>
        <p:nvPicPr>
          <p:cNvPr id="4" name="Image 0" descr="2024 H sheet smart-car exam: field layout and four 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3310128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70432"/>
            <a:ext cx="3310128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22452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赛题原图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023360" y="11704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四项任务 (与仿真一一对应)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023360" y="1517904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1517904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0" name="Text 7"/>
          <p:cNvSpPr/>
          <p:nvPr/>
        </p:nvSpPr>
        <p:spPr>
          <a:xfrm>
            <a:off x="4187952" y="15910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74920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直线行驶并停车, 声光提示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74920" y="18470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15 秒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23360" y="2231136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23360" y="2231136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2"/>
          <p:cNvSpPr/>
          <p:nvPr/>
        </p:nvSpPr>
        <p:spPr>
          <a:xfrm>
            <a:off x="4187952" y="2304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74920" y="2304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-&gt; C -&gt; D -&gt; A, 每经一点提示一次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4920" y="25603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30 秒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023360" y="2944368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9" name="Shape 16"/>
          <p:cNvSpPr/>
          <p:nvPr/>
        </p:nvSpPr>
        <p:spPr>
          <a:xfrm>
            <a:off x="4023360" y="2944368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0" name="Text 17"/>
          <p:cNvSpPr/>
          <p:nvPr/>
        </p:nvSpPr>
        <p:spPr>
          <a:xfrm>
            <a:off x="4187952" y="30175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74920" y="30175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C -&gt; B -&gt; D -&gt; A, 每经一点提示一次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74920" y="327355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40 秒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23360" y="3657600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24" name="Shape 21"/>
          <p:cNvSpPr/>
          <p:nvPr/>
        </p:nvSpPr>
        <p:spPr>
          <a:xfrm>
            <a:off x="4023360" y="3657600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2"/>
          <p:cNvSpPr/>
          <p:nvPr/>
        </p:nvSpPr>
        <p:spPr>
          <a:xfrm>
            <a:off x="4187952" y="37307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74920" y="37307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 3 路线连跑 4 圈, 用时越少越好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074920" y="398678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不限时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023360" y="4370832"/>
            <a:ext cx="4297680" cy="548640"/>
          </a:xfrm>
          <a:prstGeom prst="rect">
            <a:avLst>
              <a:gd name="adj" fmla="val 11667"/>
            </a:avLst>
          </a:prstGeom>
          <a:solidFill>
            <a:srgbClr val="023047"/>
          </a:solidFill>
          <a:ln/>
        </p:spPr>
      </p:sp>
      <p:sp>
        <p:nvSpPr>
          <p:cNvPr id="29" name="Text 26"/>
          <p:cNvSpPr/>
          <p:nvPr/>
        </p:nvSpPr>
        <p:spPr>
          <a:xfrm>
            <a:off x="4187952" y="437083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 220 x 120 cm, 半径 40 cm 半弧; 尺寸直接来自题图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1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实测结果: 四个比赛任务全部通过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命令: uv run python -m race --all    (hostc 后端, 全部通过摔倒检测与蜂鸣序列校验)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2976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限时内完成 (Task 4 无时限)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325880"/>
          <a:ext cx="3703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48640"/>
                <a:gridCol w="621792"/>
                <a:gridCol w="475488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停车误差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 A-&gt;B 直线 + 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4.68s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 A-&gt;B-&gt;C-&gt;D-&gt;A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18.89s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 A-&gt;C-&gt;B-&gt;D-&gt;A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24.57s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 任务3路线 x4 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96.64s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983480" y="3703320"/>
            <a:ext cx="3703320" cy="713232"/>
          </a:xfrm>
          <a:prstGeom prst="rect">
            <a:avLst>
              <a:gd name="adj" fmla="val 10256"/>
            </a:avLst>
          </a:prstGeom>
          <a:solidFill>
            <a:srgbClr val="023047"/>
          </a:solidFill>
          <a:ln/>
        </p:spPr>
      </p:sp>
      <p:sp>
        <p:nvSpPr>
          <p:cNvPr id="8" name="Text 4"/>
          <p:cNvSpPr/>
          <p:nvPr/>
        </p:nvSpPr>
        <p:spPr>
          <a:xfrm>
            <a:off x="5138928" y="3803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停车误差全部小于 6 cm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138928" y="4078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四任务零摔倒 (fallen: false)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数据来源: race --all 实测输出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12" name="Text 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浏览器查看器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实时渲染, 30Hz 状态帧, 一条命令拉起</a:t>
            </a:r>
            <a:endParaRPr lang="en-US" sz="1200" dirty="0"/>
          </a:p>
        </p:txBody>
      </p:sp>
      <p:pic>
        <p:nvPicPr>
          <p:cNvPr id="4" name="Image 0" descr="3D twin viewer: task 1 gr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40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43000"/>
            <a:ext cx="544068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pic>
        <p:nvPicPr>
          <p:cNvPr id="6" name="Image 1" descr="8-channel line sensor array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43000"/>
            <a:ext cx="13716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143000"/>
            <a:ext cx="13716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43800" y="1143000"/>
            <a:ext cx="1143000" cy="2743200"/>
          </a:xfrm>
          <a:prstGeom prst="rect">
            <a:avLst>
              <a:gd name="adj" fmla="val 6400"/>
            </a:avLst>
          </a:prstGeom>
          <a:solidFill>
            <a:srgbClr val="E8F1F5"/>
          </a:solidFill>
          <a:ln/>
        </p:spPr>
      </p:sp>
      <p:sp>
        <p:nvSpPr>
          <p:cNvPr id="9" name="Text 5"/>
          <p:cNvSpPr/>
          <p:nvPr/>
        </p:nvSpPr>
        <p:spPr>
          <a:xfrm>
            <a:off x="7635240" y="12801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画面可读信息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3524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实时姿态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635240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Tilt / Pos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635240" y="22311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Duty 占空比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35240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Enc 编码器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63524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电池电压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7635240" y="3136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- 8 通道循迹读数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635240" y="34381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停车判定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4315968"/>
            <a:ext cx="7863840" cy="502920"/>
          </a:xfrm>
          <a:prstGeom prst="rect">
            <a:avLst>
              <a:gd name="adj" fmla="val 12727"/>
            </a:avLst>
          </a:prstGeom>
          <a:solidFill>
            <a:srgbClr val="02304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" y="4315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bash tools/demo.sh   -&gt;   http://localhost:5173/?ws=ws://127.0.0.1:8766   (四任务一键切换, 四档回放倍速)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工程规模与测试状态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12,844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行数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个文件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固件文件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交叉编译至 F407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C# 外设模型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74320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个测试用例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个测试文件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051560"/>
            <a:ext cx="379476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测试现状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16916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passed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929384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1929384"/>
            <a:ext cx="3200400" cy="164592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691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258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 skipped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496312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2496312"/>
            <a:ext cx="86868" cy="164592"/>
          </a:xfrm>
          <a:prstGeom prst="rect">
            <a:avLst>
              <a:gd name="adj" fmla="val 31579"/>
            </a:avLst>
          </a:prstGeom>
          <a:solidFill>
            <a:srgbClr val="5C6B7A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22585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failed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3063240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063240"/>
            <a:ext cx="18288" cy="164592"/>
          </a:xfrm>
          <a:prstGeom prst="rect">
            <a:avLst>
              <a:gd name="adj" fmla="val 15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825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333756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35935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零失败 · 221 项通过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20640" y="38221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收集 227 例(另含 45 个 subtests); 6 项跳过为可选外部依赖(GrabCAD 电机模型, 需登录下载)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物理是真的, 固件是真的, 参数不会失配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18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真实固件在环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8836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执行的就是能烧板子的那份 ELF, 不是替身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3317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三槽同接口可对比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5968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逐点一致即证明电脑上调的参数等于真车行为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80944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参数机器保证不失配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3101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fwconfig --check 门 + 21 处来源标注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94176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581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四任务全部通过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40233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 &lt; 6 cm, 零摔倒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2194560" cy="2743200"/>
          </a:xfrm>
          <a:prstGeom prst="rect">
            <a:avLst>
              <a:gd name="adj" fmla="val 4167"/>
            </a:avLst>
          </a:prstGeom>
          <a:solidFill>
            <a:srgbClr val="FB8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10312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tools/fetch_vendor.sh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 --all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tools/demo.sh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github.com/superfansizhe-beep/mujoco-renode-twin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Two-wheel balancing race car digital twin</dc:title>
  <dc:subject>PptxGenJS Presentation</dc:subject>
  <dc:creator>superfansizhe-beep</dc:creator>
  <cp:lastModifiedBy>superfansizhe-beep</cp:lastModifiedBy>
  <cp:revision>1</cp:revision>
  <dcterms:created xsi:type="dcterms:W3CDTF">2026-10-13T10:15:15Z</dcterms:created>
  <dcterms:modified xsi:type="dcterms:W3CDTF">2026-10-13T10:15:15Z</dcterms:modified>
</cp:coreProperties>
</file>