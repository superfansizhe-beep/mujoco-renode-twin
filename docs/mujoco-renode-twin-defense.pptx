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耗时 (s)</c:v>
                </c:pt>
              </c:strCache>
            </c:strRef>
          </c:tx>
          <c:spPr>
            <a:solidFill>
              <a:srgbClr val="FB850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2304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Task 1</c:v>
                  </c:pt>
                  <c:pt idx="1">
                    <c:v>Task 2</c:v>
                  </c:pt>
                  <c:pt idx="2">
                    <c:v>Task 3</c:v>
                  </c:pt>
                  <c:pt idx="3">
                    <c:v>Task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4.68</c:v>
                </c:pt>
                <c:pt idx="1">
                  <c:v>18.89</c:v>
                </c:pt>
                <c:pt idx="2">
                  <c:v>24.57</c:v>
                </c:pt>
                <c:pt idx="3">
                  <c:v>96.64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02304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5C6B7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5C6B7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B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两轮平衡赛车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数字孪生系统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MuJoCo 物理引擎 + 真实 STM32F407 固件在 Renode 中执行 + build123d CAD 单一几何源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37960" y="822960"/>
            <a:ext cx="2103120" cy="3520440"/>
          </a:xfrm>
          <a:prstGeom prst="rect">
            <a:avLst>
              <a:gd name="adj" fmla="val 5217"/>
            </a:avLst>
          </a:prstGeom>
          <a:solidFill>
            <a:srgbClr val="E8F1F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1051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三控制器槽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75120" y="1508760"/>
            <a:ext cx="1828800" cy="713232"/>
          </a:xfrm>
          <a:prstGeom prst="rect">
            <a:avLst>
              <a:gd name="adj" fmla="val 7692"/>
            </a:avLst>
          </a:prstGeom>
          <a:solidFill>
            <a:srgbClr val="F7FAFC"/>
          </a:solidFill>
          <a:ln w="9525">
            <a:solidFill>
              <a:srgbClr val="5C6B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84848" y="15636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8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84848" y="18379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控制算法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75120" y="2423160"/>
            <a:ext cx="1828800" cy="713232"/>
          </a:xfrm>
          <a:prstGeom prst="rect">
            <a:avLst>
              <a:gd name="adj" fmla="val 7692"/>
            </a:avLst>
          </a:prstGeom>
          <a:solidFill>
            <a:srgbClr val="F7FAFC"/>
          </a:solidFill>
          <a:ln w="9525">
            <a:solidFill>
              <a:srgbClr val="5C6B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84848" y="24780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8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84848" y="27523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宿主 C 库 (调参)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3337560"/>
            <a:ext cx="1828800" cy="713232"/>
          </a:xfrm>
          <a:prstGeom prst="rect">
            <a:avLst>
              <a:gd name="adj" fmla="val 7692"/>
            </a:avLst>
          </a:prstGeom>
          <a:solidFill>
            <a:srgbClr val="F7FAFC"/>
          </a:solidFill>
          <a:ln w="9525">
            <a:solidFill>
              <a:srgbClr val="5C6B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84848" y="33924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8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renode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84848" y="36667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真实固件 ELF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5120640" cy="0"/>
          </a:xfrm>
          <a:prstGeom prst="line">
            <a:avLst/>
          </a:prstGeom>
          <a:noFill/>
          <a:ln w="9525">
            <a:solidFill>
              <a:srgbClr val="5C6B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79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github.com/rim5432/mujoco-renode-twin   |   MIT License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为什么要做数字孪生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3200400"/>
          </a:xfrm>
          <a:prstGeom prst="rect">
            <a:avLst>
              <a:gd name="adj" fmla="val 2857"/>
            </a:avLst>
          </a:prstGeom>
          <a:solidFill>
            <a:srgbClr val="E8F1F5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实物调参循环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1600200" cy="420624"/>
          </a:xfrm>
          <a:prstGeom prst="rect">
            <a:avLst>
              <a:gd name="adj" fmla="val 10870"/>
            </a:avLst>
          </a:prstGeom>
          <a:solidFill>
            <a:srgbClr val="F7FAFC"/>
          </a:solidFill>
          <a:ln w="9525">
            <a:solidFill>
              <a:srgbClr val="5C6B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9164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改代码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1691640"/>
            <a:ext cx="1600200" cy="420624"/>
          </a:xfrm>
          <a:prstGeom prst="rect">
            <a:avLst>
              <a:gd name="adj" fmla="val 10870"/>
            </a:avLst>
          </a:prstGeom>
          <a:solidFill>
            <a:srgbClr val="F7FAFC"/>
          </a:solidFill>
          <a:ln w="9525">
            <a:solidFill>
              <a:srgbClr val="5C6B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69164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交叉编译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258568"/>
            <a:ext cx="1600200" cy="420624"/>
          </a:xfrm>
          <a:prstGeom prst="rect">
            <a:avLst>
              <a:gd name="adj" fmla="val 10870"/>
            </a:avLst>
          </a:prstGeom>
          <a:solidFill>
            <a:srgbClr val="F7FAFC"/>
          </a:solidFill>
          <a:ln w="9525">
            <a:solidFill>
              <a:srgbClr val="5C6B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58568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烧录板子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68880" y="2258568"/>
            <a:ext cx="1600200" cy="420624"/>
          </a:xfrm>
          <a:prstGeom prst="rect">
            <a:avLst>
              <a:gd name="adj" fmla="val 10870"/>
            </a:avLst>
          </a:prstGeom>
          <a:solidFill>
            <a:srgbClr val="F7FAFC"/>
          </a:solidFill>
          <a:ln w="9525">
            <a:solidFill>
              <a:srgbClr val="5C6B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2258568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放上赛道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2825496"/>
            <a:ext cx="1600200" cy="420624"/>
          </a:xfrm>
          <a:prstGeom prst="rect">
            <a:avLst>
              <a:gd name="adj" fmla="val 10870"/>
            </a:avLst>
          </a:prstGeom>
          <a:solidFill>
            <a:srgbClr val="F7FAFC"/>
          </a:solidFill>
          <a:ln w="9525">
            <a:solidFill>
              <a:srgbClr val="5C6B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825496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68880" y="2825496"/>
            <a:ext cx="1600200" cy="420624"/>
          </a:xfrm>
          <a:prstGeom prst="rect">
            <a:avLst>
              <a:gd name="adj" fmla="val 10870"/>
            </a:avLst>
          </a:prstGeom>
          <a:solidFill>
            <a:srgbClr val="F7FAFC"/>
          </a:solidFill>
          <a:ln w="9525">
            <a:solidFill>
              <a:srgbClr val="5C6B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2825496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3392424"/>
            <a:ext cx="1600200" cy="420624"/>
          </a:xfrm>
          <a:prstGeom prst="rect">
            <a:avLst>
              <a:gd name="adj" fmla="val 10870"/>
            </a:avLst>
          </a:prstGeom>
          <a:solidFill>
            <a:srgbClr val="F7FAFC"/>
          </a:solidFill>
          <a:ln w="9525">
            <a:solidFill>
              <a:srgbClr val="5C6B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392424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重改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9136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8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一轮数分钟, 失败后无法定位是哪一环出错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1051560"/>
            <a:ext cx="3977640" cy="3200400"/>
          </a:xfrm>
          <a:prstGeom prst="rect">
            <a:avLst>
              <a:gd name="adj" fmla="val 2857"/>
            </a:avLst>
          </a:prstGeom>
          <a:solidFill>
            <a:srgbClr val="023047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数字孪生调参循环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37760" y="1737360"/>
            <a:ext cx="3520440" cy="566928"/>
          </a:xfrm>
          <a:prstGeom prst="rect">
            <a:avLst>
              <a:gd name="adj" fmla="val 12903"/>
            </a:avLst>
          </a:prstGeom>
          <a:solidFill>
            <a:srgbClr val="F7FAFC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173736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 Python 参数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2514600"/>
            <a:ext cx="3520440" cy="566928"/>
          </a:xfrm>
          <a:prstGeom prst="rect">
            <a:avLst>
              <a:gd name="adj" fmla="val 12903"/>
            </a:avLst>
          </a:prstGeom>
          <a:solidFill>
            <a:srgbClr val="F7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51460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仿真里秒级验证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37760" y="3291840"/>
            <a:ext cx="3520440" cy="566928"/>
          </a:xfrm>
          <a:prstGeom prst="rect">
            <a:avLst>
              <a:gd name="adj" fmla="val 12903"/>
            </a:avLst>
          </a:prstGeom>
          <a:solidFill>
            <a:srgbClr val="F7FAFC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29184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不满意立即重试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39136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8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关键: 跑的不是仿真控制器, 而是能烧进板子的那份真实固件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84048" cy="274320"/>
          </a:xfrm>
          <a:prstGeom prst="rect">
            <a:avLst>
              <a:gd name="adj" fmla="val 16667"/>
            </a:avLst>
          </a:prstGeom>
          <a:solidFill>
            <a:srgbClr val="E8F1F5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三层架构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物理侧永远不变, 大脑可插, 数据每 5ms 交互一次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623560" cy="868680"/>
          </a:xfrm>
          <a:prstGeom prst="rect">
            <a:avLst>
              <a:gd name="adj" fmla="val 10526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25880"/>
            <a:ext cx="82296" cy="868680"/>
          </a:xfrm>
          <a:prstGeom prst="rect">
            <a:avLst/>
          </a:prstGeom>
          <a:solidFill>
            <a:srgbClr val="02304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35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MuJoCo 物理引擎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7556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车的身体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08960" y="152704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算重力 / 摩擦 / 电机扭矩, 200Hz 推进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70448" y="1600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8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ms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5623560" cy="868680"/>
          </a:xfrm>
          <a:prstGeom prst="rect">
            <a:avLst>
              <a:gd name="adj" fmla="val 10526"/>
            </a:avLst>
          </a:prstGeom>
          <a:solidFill>
            <a:srgbClr val="E8F1F5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377440"/>
            <a:ext cx="82296" cy="86868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487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控制器 (三选一)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2807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8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车的大脑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25786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只拿原始传感器, 只输出电机占空比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70448" y="2651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8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ms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5623560" cy="868680"/>
          </a:xfrm>
          <a:prstGeom prst="rect">
            <a:avLst>
              <a:gd name="adj" fmla="val 10526"/>
            </a:avLst>
          </a:prstGeom>
          <a:solidFill>
            <a:srgbClr val="E8F1F5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429000"/>
            <a:ext cx="82296" cy="868680"/>
          </a:xfrm>
          <a:prstGeom prst="rect">
            <a:avLst/>
          </a:prstGeom>
          <a:solidFill>
            <a:srgbClr val="5C6B7A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538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three.js 查看器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3858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你的眼睛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08960" y="36301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浏览器里 3D 实时观察, 30Hz 状态帧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1325880"/>
            <a:ext cx="2423160" cy="3017520"/>
          </a:xfrm>
          <a:prstGeom prst="rect">
            <a:avLst>
              <a:gd name="adj" fmla="val 3774"/>
            </a:avLst>
          </a:prstGeom>
          <a:solidFill>
            <a:srgbClr val="023047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1508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 5 ms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6520" y="1920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1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真车 IMU 输出速率就是 200 Hz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46520" y="2560320"/>
            <a:ext cx="2057400" cy="0"/>
          </a:xfrm>
          <a:prstGeom prst="line">
            <a:avLst/>
          </a:prstGeom>
          <a:noFill/>
          <a:ln w="9525">
            <a:solidFill>
              <a:srgbClr val="5C6B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2697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8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仿真节拍必须与真硬件一致, 否则时序不真实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3703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车歪超过 55 度强制输出 0, 防翻车疯转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84048" cy="274320"/>
          </a:xfrm>
          <a:prstGeom prst="rect">
            <a:avLst>
              <a:gd name="adj" fmla="val 16667"/>
            </a:avLst>
          </a:prstGeom>
          <a:solidFill>
            <a:srgbClr val="E8F1F5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核心机制: 三个可互换的控制器槽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物理侧完全不变, 三者走同一个接口  controller.step(sensor) -&gt; motor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2514600"/>
          </a:xfrm>
          <a:prstGeom prst="rect">
            <a:avLst>
              <a:gd name="adj" fmla="val 3636"/>
            </a:avLst>
          </a:prstGeom>
          <a:solidFill>
            <a:srgbClr val="E8F1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8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stub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128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快速验证环境是否通畅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2240280" cy="0"/>
          </a:xfrm>
          <a:prstGeom prst="line">
            <a:avLst/>
          </a:prstGeom>
          <a:noFill/>
          <a:ln w="9525">
            <a:solidFill>
              <a:srgbClr val="5C6B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154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 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25880"/>
            <a:ext cx="2606040" cy="2514600"/>
          </a:xfrm>
          <a:prstGeom prst="rect">
            <a:avLst>
              <a:gd name="adj" fmla="val 3636"/>
            </a:avLst>
          </a:prstGeom>
          <a:solidFill>
            <a:srgbClr val="023047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463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8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74720" y="18288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宿主 C 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2128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1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日常调参, 最快, 无需交叉编译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0" y="3017520"/>
            <a:ext cx="2240280" cy="0"/>
          </a:xfrm>
          <a:prstGeom prst="line">
            <a:avLst/>
          </a:prstGeom>
          <a:noFill/>
          <a:ln w="9525">
            <a:solidFill>
              <a:srgbClr val="5C6B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3154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8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 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325880"/>
            <a:ext cx="2606040" cy="2514600"/>
          </a:xfrm>
          <a:prstGeom prst="rect">
            <a:avLst>
              <a:gd name="adj" fmla="val 3636"/>
            </a:avLst>
          </a:prstGeom>
          <a:solidFill>
            <a:srgbClr val="E8F1F5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463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8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renode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09360" y="18288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真实固件 ELF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22128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验证烧到车上就是这个行为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3017520"/>
            <a:ext cx="2240280" cy="0"/>
          </a:xfrm>
          <a:prstGeom prst="line">
            <a:avLst/>
          </a:prstGeom>
          <a:noFill/>
          <a:ln w="9525">
            <a:solidFill>
              <a:srgbClr val="5C6B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3154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 分钟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041648"/>
            <a:ext cx="7863840" cy="777240"/>
          </a:xfrm>
          <a:prstGeom prst="rect">
            <a:avLst>
              <a:gd name="adj" fmla="val 9412"/>
            </a:avLst>
          </a:prstGeom>
          <a:solidFill>
            <a:srgbClr val="FB8500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16052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parity-gated: 三槽同接口, 同一场景跑三份, 输出曲线逐点一致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" y="44622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这就证明了: 电脑上调的参数 = 真车行为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84048" cy="274320"/>
          </a:xfrm>
          <a:prstGeom prst="rect">
            <a:avLst>
              <a:gd name="adj" fmla="val 16667"/>
            </a:avLst>
          </a:prstGeom>
          <a:solidFill>
            <a:srgbClr val="E8F1F5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固件在环: 自研 C# 外设模型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Renode 在 PC 上模拟 STM32F407, 真实固件二进制以为自己跑在芯片上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个手写外设模型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371600" cy="548640"/>
          </a:xfrm>
          <a:prstGeom prst="rect">
            <a:avLst>
              <a:gd name="adj" fmla="val 10000"/>
            </a:avLst>
          </a:prstGeom>
          <a:solidFill>
            <a:srgbClr val="E8F1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91640"/>
            <a:ext cx="54864" cy="54864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7" name="Text 5"/>
          <p:cNvSpPr/>
          <p:nvPr/>
        </p:nvSpPr>
        <p:spPr>
          <a:xfrm>
            <a:off x="585216" y="17465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3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mpu6050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5216" y="19842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IMU 总线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38528" y="1691640"/>
            <a:ext cx="1371600" cy="548640"/>
          </a:xfrm>
          <a:prstGeom prst="rect">
            <a:avLst>
              <a:gd name="adj" fmla="val 10000"/>
            </a:avLst>
          </a:prstGeom>
          <a:solidFill>
            <a:srgbClr val="E8F1F5"/>
          </a:solidFill>
          <a:ln/>
        </p:spPr>
      </p:sp>
      <p:sp>
        <p:nvSpPr>
          <p:cNvPr id="10" name="Shape 8"/>
          <p:cNvSpPr/>
          <p:nvPr/>
        </p:nvSpPr>
        <p:spPr>
          <a:xfrm>
            <a:off x="1938528" y="1691640"/>
            <a:ext cx="54864" cy="54864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11" name="Text 9"/>
          <p:cNvSpPr/>
          <p:nvPr/>
        </p:nvSpPr>
        <p:spPr>
          <a:xfrm>
            <a:off x="2066544" y="17465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3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enc_model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66544" y="19842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编码器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19856" y="1691640"/>
            <a:ext cx="1371600" cy="548640"/>
          </a:xfrm>
          <a:prstGeom prst="rect">
            <a:avLst>
              <a:gd name="adj" fmla="val 10000"/>
            </a:avLst>
          </a:prstGeom>
          <a:solidFill>
            <a:srgbClr val="E8F1F5"/>
          </a:solidFill>
          <a:ln/>
        </p:spPr>
      </p:sp>
      <p:sp>
        <p:nvSpPr>
          <p:cNvPr id="14" name="Shape 12"/>
          <p:cNvSpPr/>
          <p:nvPr/>
        </p:nvSpPr>
        <p:spPr>
          <a:xfrm>
            <a:off x="3419856" y="1691640"/>
            <a:ext cx="54864" cy="54864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15" name="Text 13"/>
          <p:cNvSpPr/>
          <p:nvPr/>
        </p:nvSpPr>
        <p:spPr>
          <a:xfrm>
            <a:off x="3547872" y="17465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3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47872" y="19842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PWM 定时器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350008"/>
            <a:ext cx="1371600" cy="548640"/>
          </a:xfrm>
          <a:prstGeom prst="rect">
            <a:avLst>
              <a:gd name="adj" fmla="val 10000"/>
            </a:avLst>
          </a:prstGeom>
          <a:solidFill>
            <a:srgbClr val="E8F1F5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350008"/>
            <a:ext cx="54864" cy="54864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19" name="Text 17"/>
          <p:cNvSpPr/>
          <p:nvPr/>
        </p:nvSpPr>
        <p:spPr>
          <a:xfrm>
            <a:off x="585216" y="24048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3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5216" y="264261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串口链路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938528" y="2350008"/>
            <a:ext cx="1371600" cy="548640"/>
          </a:xfrm>
          <a:prstGeom prst="rect">
            <a:avLst>
              <a:gd name="adj" fmla="val 10000"/>
            </a:avLst>
          </a:prstGeom>
          <a:solidFill>
            <a:srgbClr val="E8F1F5"/>
          </a:solidFill>
          <a:ln/>
        </p:spPr>
      </p:sp>
      <p:sp>
        <p:nvSpPr>
          <p:cNvPr id="22" name="Shape 20"/>
          <p:cNvSpPr/>
          <p:nvPr/>
        </p:nvSpPr>
        <p:spPr>
          <a:xfrm>
            <a:off x="1938528" y="2350008"/>
            <a:ext cx="54864" cy="54864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23" name="Text 21"/>
          <p:cNvSpPr/>
          <p:nvPr/>
        </p:nvSpPr>
        <p:spPr>
          <a:xfrm>
            <a:off x="2066544" y="24048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3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adc_model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66544" y="264261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ADC 采样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19856" y="2350008"/>
            <a:ext cx="1371600" cy="548640"/>
          </a:xfrm>
          <a:prstGeom prst="rect">
            <a:avLst>
              <a:gd name="adj" fmla="val 10000"/>
            </a:avLst>
          </a:prstGeom>
          <a:solidFill>
            <a:srgbClr val="E8F1F5"/>
          </a:solidFill>
          <a:ln/>
        </p:spPr>
      </p:sp>
      <p:sp>
        <p:nvSpPr>
          <p:cNvPr id="26" name="Shape 24"/>
          <p:cNvSpPr/>
          <p:nvPr/>
        </p:nvSpPr>
        <p:spPr>
          <a:xfrm>
            <a:off x="3419856" y="2350008"/>
            <a:ext cx="54864" cy="54864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27" name="Text 25"/>
          <p:cNvSpPr/>
          <p:nvPr/>
        </p:nvSpPr>
        <p:spPr>
          <a:xfrm>
            <a:off x="3547872" y="24048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3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i2c_model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47872" y="264261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I2C 总线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008376"/>
            <a:ext cx="1371600" cy="548640"/>
          </a:xfrm>
          <a:prstGeom prst="rect">
            <a:avLst>
              <a:gd name="adj" fmla="val 10000"/>
            </a:avLst>
          </a:prstGeom>
          <a:solidFill>
            <a:srgbClr val="E8F1F5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3008376"/>
            <a:ext cx="54864" cy="54864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31" name="Text 29"/>
          <p:cNvSpPr/>
          <p:nvPr/>
        </p:nvSpPr>
        <p:spPr>
          <a:xfrm>
            <a:off x="585216" y="30632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3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gpio_model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5216" y="330098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GPIO 电平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938528" y="3008376"/>
            <a:ext cx="1371600" cy="548640"/>
          </a:xfrm>
          <a:prstGeom prst="rect">
            <a:avLst>
              <a:gd name="adj" fmla="val 10000"/>
            </a:avLst>
          </a:prstGeom>
          <a:solidFill>
            <a:srgbClr val="E8F1F5"/>
          </a:solidFill>
          <a:ln/>
        </p:spPr>
      </p:sp>
      <p:sp>
        <p:nvSpPr>
          <p:cNvPr id="34" name="Shape 32"/>
          <p:cNvSpPr/>
          <p:nvPr/>
        </p:nvSpPr>
        <p:spPr>
          <a:xfrm>
            <a:off x="1938528" y="3008376"/>
            <a:ext cx="54864" cy="54864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35" name="Text 33"/>
          <p:cNvSpPr/>
          <p:nvPr/>
        </p:nvSpPr>
        <p:spPr>
          <a:xfrm>
            <a:off x="2066544" y="30632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3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iwdg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066544" y="330098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看门狗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419856" y="3008376"/>
            <a:ext cx="1371600" cy="548640"/>
          </a:xfrm>
          <a:prstGeom prst="rect">
            <a:avLst>
              <a:gd name="adj" fmla="val 10000"/>
            </a:avLst>
          </a:prstGeom>
          <a:solidFill>
            <a:srgbClr val="E8F1F5"/>
          </a:solidFill>
          <a:ln/>
        </p:spPr>
      </p:sp>
      <p:sp>
        <p:nvSpPr>
          <p:cNvPr id="38" name="Shape 36"/>
          <p:cNvSpPr/>
          <p:nvPr/>
        </p:nvSpPr>
        <p:spPr>
          <a:xfrm>
            <a:off x="3419856" y="3008376"/>
            <a:ext cx="54864" cy="54864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39" name="Text 37"/>
          <p:cNvSpPr/>
          <p:nvPr/>
        </p:nvSpPr>
        <p:spPr>
          <a:xfrm>
            <a:off x="3547872" y="30632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3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rcc_model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547872" y="330098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时钟树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74920" y="1325880"/>
            <a:ext cx="3611880" cy="3108960"/>
          </a:xfrm>
          <a:prstGeom prst="rect">
            <a:avLst>
              <a:gd name="adj" fmla="val 2941"/>
            </a:avLst>
          </a:prstGeom>
          <a:solidFill>
            <a:srgbClr val="023047"/>
          </a:solidFill>
          <a:ln/>
        </p:spPr>
      </p:sp>
      <p:sp>
        <p:nvSpPr>
          <p:cNvPr id="42" name="Text 40"/>
          <p:cNvSpPr/>
          <p:nvPr/>
        </p:nvSpPr>
        <p:spPr>
          <a:xfrm>
            <a:off x="5303520" y="1481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信号流向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303520" y="1874520"/>
            <a:ext cx="3154680" cy="640080"/>
          </a:xfrm>
          <a:prstGeom prst="rect">
            <a:avLst>
              <a:gd name="adj" fmla="val 10000"/>
            </a:avLst>
          </a:prstGeom>
          <a:solidFill>
            <a:srgbClr val="F7FAFC"/>
          </a:solidFill>
          <a:ln/>
        </p:spPr>
      </p:sp>
      <p:sp>
        <p:nvSpPr>
          <p:cNvPr id="44" name="Text 42"/>
          <p:cNvSpPr/>
          <p:nvPr/>
        </p:nvSpPr>
        <p:spPr>
          <a:xfrm>
            <a:off x="5440680" y="19476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传感器进来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440680" y="220370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IMU / 编码器 / 循迹线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303520" y="25146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303520" y="2715768"/>
            <a:ext cx="3154680" cy="640080"/>
          </a:xfrm>
          <a:prstGeom prst="rect">
            <a:avLst>
              <a:gd name="adj" fmla="val 10000"/>
            </a:avLst>
          </a:prstGeom>
          <a:solidFill>
            <a:srgbClr val="F7FAFC"/>
          </a:solidFill>
          <a:ln/>
        </p:spPr>
      </p:sp>
      <p:sp>
        <p:nvSpPr>
          <p:cNvPr id="48" name="Text 46"/>
          <p:cNvSpPr/>
          <p:nvPr/>
        </p:nvSpPr>
        <p:spPr>
          <a:xfrm>
            <a:off x="5440680" y="27889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固件自己算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40680" y="30449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真实控制代码无感知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303520" y="335584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303520" y="3557016"/>
            <a:ext cx="3154680" cy="640080"/>
          </a:xfrm>
          <a:prstGeom prst="rect">
            <a:avLst>
              <a:gd name="adj" fmla="val 10000"/>
            </a:avLst>
          </a:prstGeom>
          <a:solidFill>
            <a:srgbClr val="F7FAFC"/>
          </a:solidFill>
          <a:ln/>
        </p:spPr>
      </p:sp>
      <p:sp>
        <p:nvSpPr>
          <p:cNvPr id="52" name="Text 50"/>
          <p:cNvSpPr/>
          <p:nvPr/>
        </p:nvSpPr>
        <p:spPr>
          <a:xfrm>
            <a:off x="5440680" y="36301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寄存器出去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440680" y="38862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TIM1 + 驱动寄存器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303520" y="422452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8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真车接什么线, 模拟器就灌什么信号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503920" y="4663440"/>
            <a:ext cx="384048" cy="274320"/>
          </a:xfrm>
          <a:prstGeom prst="rect">
            <a:avLst>
              <a:gd name="adj" fmla="val 16667"/>
            </a:avLst>
          </a:prstGeom>
          <a:solidFill>
            <a:srgbClr val="E8F1F5"/>
          </a:solidFill>
          <a:ln/>
        </p:spPr>
      </p:sp>
      <p:sp>
        <p:nvSpPr>
          <p:cNvPr id="56" name="Text 54"/>
          <p:cNvSpPr/>
          <p:nvPr/>
        </p:nvSpPr>
        <p:spPr>
          <a:xfrm>
            <a:off x="8503920" y="46634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参数单一数据源,机器保证不失配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这是孪生能成立的基础: C 固件与 Python 仿真永远用同一套参数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783080" cy="960120"/>
          </a:xfrm>
          <a:prstGeom prst="rect">
            <a:avLst>
              <a:gd name="adj" fmla="val 8571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1783080" cy="64008"/>
          </a:xfrm>
          <a:prstGeom prst="rect">
            <a:avLst/>
          </a:prstGeom>
          <a:solidFill>
            <a:srgbClr val="023047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536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参数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8470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唯一数据源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40280" y="16916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651760" y="1371600"/>
            <a:ext cx="1783080" cy="960120"/>
          </a:xfrm>
          <a:prstGeom prst="rect">
            <a:avLst>
              <a:gd name="adj" fmla="val 8571"/>
            </a:avLst>
          </a:prstGeom>
          <a:solidFill>
            <a:srgbClr val="E8F1F5"/>
          </a:solidFill>
          <a:ln/>
        </p:spPr>
      </p:sp>
      <p:sp>
        <p:nvSpPr>
          <p:cNvPr id="10" name="Shape 8"/>
          <p:cNvSpPr/>
          <p:nvPr/>
        </p:nvSpPr>
        <p:spPr>
          <a:xfrm>
            <a:off x="2651760" y="1371600"/>
            <a:ext cx="1783080" cy="64008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11" name="Text 9"/>
          <p:cNvSpPr/>
          <p:nvPr/>
        </p:nvSpPr>
        <p:spPr>
          <a:xfrm>
            <a:off x="2761488" y="1536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race_fwconfig.h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61488" y="18470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自动生成的 C 头文件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34840" y="16916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846320" y="1371600"/>
            <a:ext cx="1783080" cy="960120"/>
          </a:xfrm>
          <a:prstGeom prst="rect">
            <a:avLst>
              <a:gd name="adj" fmla="val 8571"/>
            </a:avLst>
          </a:prstGeom>
          <a:solidFill>
            <a:srgbClr val="E8F1F5"/>
          </a:solidFill>
          <a:ln/>
        </p:spPr>
      </p:sp>
      <p:sp>
        <p:nvSpPr>
          <p:cNvPr id="15" name="Shape 13"/>
          <p:cNvSpPr/>
          <p:nvPr/>
        </p:nvSpPr>
        <p:spPr>
          <a:xfrm>
            <a:off x="4846320" y="1371600"/>
            <a:ext cx="1783080" cy="64008"/>
          </a:xfrm>
          <a:prstGeom prst="rect">
            <a:avLst/>
          </a:prstGeom>
          <a:solidFill>
            <a:srgbClr val="5C6B7A"/>
          </a:solidFill>
          <a:ln/>
        </p:spPr>
      </p:sp>
      <p:sp>
        <p:nvSpPr>
          <p:cNvPr id="16" name="Text 14"/>
          <p:cNvSpPr/>
          <p:nvPr/>
        </p:nvSpPr>
        <p:spPr>
          <a:xfrm>
            <a:off x="4956048" y="1536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race_fw.elf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56048" y="18470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交叉编译产物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29400" y="16916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040880" y="1371600"/>
            <a:ext cx="1783080" cy="960120"/>
          </a:xfrm>
          <a:prstGeom prst="rect">
            <a:avLst>
              <a:gd name="adj" fmla="val 8571"/>
            </a:avLst>
          </a:prstGeom>
          <a:solidFill>
            <a:srgbClr val="E8F1F5"/>
          </a:solidFill>
          <a:ln/>
        </p:spPr>
      </p:sp>
      <p:sp>
        <p:nvSpPr>
          <p:cNvPr id="20" name="Shape 18"/>
          <p:cNvSpPr/>
          <p:nvPr/>
        </p:nvSpPr>
        <p:spPr>
          <a:xfrm>
            <a:off x="7040880" y="1371600"/>
            <a:ext cx="1783080" cy="64008"/>
          </a:xfrm>
          <a:prstGeom prst="rect">
            <a:avLst/>
          </a:prstGeom>
          <a:solidFill>
            <a:srgbClr val="023047"/>
          </a:solidFill>
          <a:ln/>
        </p:spPr>
      </p:sp>
      <p:sp>
        <p:nvSpPr>
          <p:cNvPr id="21" name="Text 19"/>
          <p:cNvSpPr/>
          <p:nvPr/>
        </p:nvSpPr>
        <p:spPr>
          <a:xfrm>
            <a:off x="7150608" y="1536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Renode 执行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50608" y="18470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真实固件行为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606040"/>
            <a:ext cx="8229600" cy="914400"/>
          </a:xfrm>
          <a:prstGeom prst="rect">
            <a:avLst>
              <a:gd name="adj" fmla="val 9000"/>
            </a:avLst>
          </a:prstGeom>
          <a:solidFill>
            <a:srgbClr val="023047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2606040"/>
            <a:ext cx="82296" cy="91440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8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--check 门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3232" y="305409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手改了 .h 或改了 Python 忘同步 -&gt; 直接 exit 1 报错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0" y="27889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-m race.fwconfig --check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0" y="304495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exit 0 (参数同步)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每个物理常量都标注来源 (bot/mass_properties.py, 21 处)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4069080"/>
            <a:ext cx="1737360" cy="685800"/>
          </a:xfrm>
          <a:prstGeom prst="rect">
            <a:avLst>
              <a:gd name="adj" fmla="val 9333"/>
            </a:avLst>
          </a:prstGeom>
          <a:solidFill>
            <a:srgbClr val="E8F1F5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41422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8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874520" y="4114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66928" y="44074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有公开来源可查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60320" y="4069080"/>
            <a:ext cx="1737360" cy="685800"/>
          </a:xfrm>
          <a:prstGeom prst="rect">
            <a:avLst>
              <a:gd name="adj" fmla="val 9333"/>
            </a:avLst>
          </a:prstGeom>
          <a:solidFill>
            <a:srgbClr val="E8F1F5"/>
          </a:solidFill>
          <a:ln/>
        </p:spPr>
      </p:sp>
      <p:sp>
        <p:nvSpPr>
          <p:cNvPr id="35" name="Text 33"/>
          <p:cNvSpPr/>
          <p:nvPr/>
        </p:nvSpPr>
        <p:spPr>
          <a:xfrm>
            <a:off x="2670048" y="41422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8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977640" y="4114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2670048" y="44074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CAD 体积 x 密度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4069080"/>
            <a:ext cx="1737360" cy="685800"/>
          </a:xfrm>
          <a:prstGeom prst="rect">
            <a:avLst>
              <a:gd name="adj" fmla="val 9333"/>
            </a:avLst>
          </a:prstGeom>
          <a:solidFill>
            <a:srgbClr val="E8F1F5"/>
          </a:solidFill>
          <a:ln/>
        </p:spPr>
      </p:sp>
      <p:sp>
        <p:nvSpPr>
          <p:cNvPr id="39" name="Text 37"/>
          <p:cNvSpPr/>
          <p:nvPr/>
        </p:nvSpPr>
        <p:spPr>
          <a:xfrm>
            <a:off x="4773168" y="41422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8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080760" y="4114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4773168" y="44074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待上秤实测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66560" y="4069080"/>
            <a:ext cx="1737360" cy="685800"/>
          </a:xfrm>
          <a:prstGeom prst="rect">
            <a:avLst>
              <a:gd name="adj" fmla="val 9333"/>
            </a:avLst>
          </a:prstGeom>
          <a:solidFill>
            <a:srgbClr val="E8F1F5"/>
          </a:solidFill>
          <a:ln/>
        </p:spPr>
      </p:sp>
      <p:sp>
        <p:nvSpPr>
          <p:cNvPr id="43" name="Text 41"/>
          <p:cNvSpPr/>
          <p:nvPr/>
        </p:nvSpPr>
        <p:spPr>
          <a:xfrm>
            <a:off x="6876288" y="41422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8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183880" y="4114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876288" y="44074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占位, 明确是猜的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503920" y="4663440"/>
            <a:ext cx="384048" cy="274320"/>
          </a:xfrm>
          <a:prstGeom prst="rect">
            <a:avLst>
              <a:gd name="adj" fmla="val 16667"/>
            </a:avLst>
          </a:prstGeom>
          <a:solidFill>
            <a:srgbClr val="E8F1F5"/>
          </a:solidFill>
          <a:ln/>
        </p:spPr>
      </p:sp>
      <p:sp>
        <p:nvSpPr>
          <p:cNvPr id="47" name="Text 45"/>
          <p:cNvSpPr/>
          <p:nvPr/>
        </p:nvSpPr>
        <p:spPr>
          <a:xfrm>
            <a:off x="8503920" y="46634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机械建模: build123d 单一几何源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车不是画出来的, 是算出来的 -- 同一份尺寸数据同时喂给物理引擎和 3D 查看器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一份数据, 两个出口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17904"/>
            <a:ext cx="4023360" cy="566928"/>
          </a:xfrm>
          <a:prstGeom prst="rect">
            <a:avLst>
              <a:gd name="adj" fmla="val 12903"/>
            </a:avLst>
          </a:prstGeom>
          <a:solidFill>
            <a:srgbClr val="FB85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1790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constants sheet  (layout.py / 各零件模块)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143000" y="2103120"/>
            <a:ext cx="45720" cy="256032"/>
          </a:xfrm>
          <a:prstGeom prst="rect">
            <a:avLst/>
          </a:prstGeom>
          <a:solidFill>
            <a:srgbClr val="5C6B7A"/>
          </a:solidFill>
          <a:ln/>
        </p:spPr>
      </p:sp>
      <p:sp>
        <p:nvSpPr>
          <p:cNvPr id="8" name="Shape 6"/>
          <p:cNvSpPr/>
          <p:nvPr/>
        </p:nvSpPr>
        <p:spPr>
          <a:xfrm>
            <a:off x="3703320" y="2103120"/>
            <a:ext cx="45720" cy="256032"/>
          </a:xfrm>
          <a:prstGeom prst="rect">
            <a:avLst/>
          </a:prstGeom>
          <a:solidFill>
            <a:srgbClr val="5C6B7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377440"/>
            <a:ext cx="1874520" cy="1051560"/>
          </a:xfrm>
          <a:prstGeom prst="rect">
            <a:avLst>
              <a:gd name="adj" fmla="val 6957"/>
            </a:avLst>
          </a:prstGeom>
          <a:solidFill>
            <a:srgbClr val="E8F1F5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377440"/>
            <a:ext cx="1874520" cy="54864"/>
          </a:xfrm>
          <a:prstGeom prst="rect">
            <a:avLst/>
          </a:prstGeom>
          <a:solidFill>
            <a:srgbClr val="023047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054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物理碰撞体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2743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8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collision 模式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" y="296265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包络体 (Box/Cylinder)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喂给 MuJoCo 算碰撞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606040" y="2377440"/>
            <a:ext cx="1874520" cy="1051560"/>
          </a:xfrm>
          <a:prstGeom prst="rect">
            <a:avLst>
              <a:gd name="adj" fmla="val 6957"/>
            </a:avLst>
          </a:prstGeom>
          <a:solidFill>
            <a:srgbClr val="E8F1F5"/>
          </a:solidFill>
          <a:ln/>
        </p:spPr>
      </p:sp>
      <p:sp>
        <p:nvSpPr>
          <p:cNvPr id="15" name="Shape 13"/>
          <p:cNvSpPr/>
          <p:nvPr/>
        </p:nvSpPr>
        <p:spPr>
          <a:xfrm>
            <a:off x="2606040" y="2377440"/>
            <a:ext cx="1874520" cy="54864"/>
          </a:xfrm>
          <a:prstGeom prst="rect">
            <a:avLst/>
          </a:prstGeom>
          <a:solidFill>
            <a:srgbClr val="5C6B7A"/>
          </a:solidFill>
          <a:ln/>
        </p:spPr>
      </p:sp>
      <p:sp>
        <p:nvSpPr>
          <p:cNvPr id="16" name="Text 14"/>
          <p:cNvSpPr/>
          <p:nvPr/>
        </p:nvSpPr>
        <p:spPr>
          <a:xfrm>
            <a:off x="2715768" y="25054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显示模型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15768" y="2743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8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 模式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15768" y="296265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换成厂商真实 STEP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export STEP / GLB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584448"/>
            <a:ext cx="4023360" cy="841248"/>
          </a:xfrm>
          <a:prstGeom prst="rect">
            <a:avLst>
              <a:gd name="adj" fmla="val 8696"/>
            </a:avLst>
          </a:prstGeom>
          <a:solidFill>
            <a:srgbClr val="023047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675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8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同一套尺寸, 物理与显示不可能对不上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39502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装错位, 算错质量, 重心偏移都会立刻暴露 -- 而这些数直接决定车能不能站稳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170432"/>
            <a:ext cx="3977640" cy="3255264"/>
          </a:xfrm>
          <a:prstGeom prst="rect">
            <a:avLst>
              <a:gd name="adj" fmla="val 2809"/>
            </a:avLst>
          </a:prstGeom>
          <a:solidFill>
            <a:srgbClr val="E8F1F5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1298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买来的零件模型从哪来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92040" y="1664208"/>
            <a:ext cx="3611880" cy="566928"/>
          </a:xfrm>
          <a:prstGeom prst="rect">
            <a:avLst>
              <a:gd name="adj" fmla="val 9677"/>
            </a:avLst>
          </a:prstGeom>
          <a:solidFill>
            <a:srgbClr val="F7FA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892040" y="1664208"/>
            <a:ext cx="54864" cy="566928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171907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开源仓库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193852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JGB37-520 电机 7 件 / GY-521 / AMS1117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92040" y="2322576"/>
            <a:ext cx="3611880" cy="566928"/>
          </a:xfrm>
          <a:prstGeom prst="rect">
            <a:avLst>
              <a:gd name="adj" fmla="val 9677"/>
            </a:avLst>
          </a:prstGeom>
          <a:solidFill>
            <a:srgbClr val="F7FAFC"/>
          </a:solidFill>
          <a:ln/>
        </p:spPr>
      </p:sp>
      <p:sp>
        <p:nvSpPr>
          <p:cNvPr id="29" name="Shape 27"/>
          <p:cNvSpPr/>
          <p:nvPr/>
        </p:nvSpPr>
        <p:spPr>
          <a:xfrm>
            <a:off x="4892040" y="2322576"/>
            <a:ext cx="54864" cy="566928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237744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GrabCAD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259689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需登录下载, 引擎 LR24 + 尺寸图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2040" y="301752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三源交叉验证, 法兰尺寸由此定案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92040" y="3291840"/>
            <a:ext cx="1097280" cy="365760"/>
          </a:xfrm>
          <a:prstGeom prst="rect">
            <a:avLst>
              <a:gd name="adj" fmla="val 15000"/>
            </a:avLst>
          </a:prstGeom>
          <a:solidFill>
            <a:srgbClr val="023047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3291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尺寸图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08192" y="3291840"/>
            <a:ext cx="1097280" cy="365760"/>
          </a:xfrm>
          <a:prstGeom prst="rect">
            <a:avLst>
              <a:gd name="adj" fmla="val 15000"/>
            </a:avLst>
          </a:prstGeom>
          <a:solidFill>
            <a:srgbClr val="023047"/>
          </a:solidFill>
          <a:ln/>
        </p:spPr>
      </p:sp>
      <p:sp>
        <p:nvSpPr>
          <p:cNvPr id="36" name="Text 34"/>
          <p:cNvSpPr/>
          <p:nvPr/>
        </p:nvSpPr>
        <p:spPr>
          <a:xfrm>
            <a:off x="6108192" y="3291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GrabCAD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24344" y="3291840"/>
            <a:ext cx="1097280" cy="365760"/>
          </a:xfrm>
          <a:prstGeom prst="rect">
            <a:avLst>
              <a:gd name="adj" fmla="val 15000"/>
            </a:avLst>
          </a:prstGeom>
          <a:solidFill>
            <a:srgbClr val="023047"/>
          </a:solidFill>
          <a:ln/>
        </p:spPr>
      </p:sp>
      <p:sp>
        <p:nvSpPr>
          <p:cNvPr id="38" name="Text 36"/>
          <p:cNvSpPr/>
          <p:nvPr/>
        </p:nvSpPr>
        <p:spPr>
          <a:xfrm>
            <a:off x="7324344" y="3291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92040" y="373075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8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三者一致 -&gt; 6 个 M3 孔, 节圆 31mm, 攻丝深 3.5mm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92040" y="4005072"/>
            <a:ext cx="3611880" cy="347472"/>
          </a:xfrm>
          <a:prstGeom prst="rect">
            <a:avLst>
              <a:gd name="adj" fmla="val 15789"/>
            </a:avLst>
          </a:prstGeom>
          <a:solidFill>
            <a:srgbClr val="F7FAFC"/>
          </a:solidFill>
          <a:ln w="9525">
            <a:solidFill>
              <a:srgbClr val="FB85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40050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第三方模型只取用不分发, 碰撞体一律自己算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4526280"/>
            <a:ext cx="7863840" cy="384048"/>
          </a:xfrm>
          <a:prstGeom prst="rect">
            <a:avLst>
              <a:gd name="adj" fmla="val 14286"/>
            </a:avLst>
          </a:prstGeom>
          <a:solidFill>
            <a:srgbClr val="FB8500"/>
          </a:solidFill>
          <a:ln/>
        </p:spPr>
      </p:sp>
      <p:sp>
        <p:nvSpPr>
          <p:cNvPr id="43" name="Text 41"/>
          <p:cNvSpPr/>
          <p:nvPr/>
        </p:nvSpPr>
        <p:spPr>
          <a:xfrm>
            <a:off x="621792" y="452628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src/cad_modeling/  11 个模块 1246 行 Python -- 用代码写零件, 不是用鼠标点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503920" y="4663440"/>
            <a:ext cx="384048" cy="274320"/>
          </a:xfrm>
          <a:prstGeom prst="rect">
            <a:avLst>
              <a:gd name="adj" fmla="val 16667"/>
            </a:avLst>
          </a:prstGeom>
          <a:solidFill>
            <a:srgbClr val="E8F1F5"/>
          </a:solidFill>
          <a:ln/>
        </p:spPr>
      </p:sp>
      <p:sp>
        <p:nvSpPr>
          <p:cNvPr id="45" name="Text 43"/>
          <p:cNvSpPr/>
          <p:nvPr/>
        </p:nvSpPr>
        <p:spPr>
          <a:xfrm>
            <a:off x="8503920" y="46634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实测结果: 四个比赛任务全部通过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命令: uv run python -m race --all    (hostc 后端, 全部通过摔倒检测与蜂鸣序列校验)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429768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1605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限时内完成 (Task 4 无时限)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325880"/>
          <a:ext cx="37033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548640"/>
                <a:gridCol w="621792"/>
                <a:gridCol w="475488"/>
                <a:gridCol w="640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230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230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230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耗时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230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限时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230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停车误差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230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 A-&gt;B 直线 + 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230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PASS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230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4.68s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230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230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0.02 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230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 A-&gt;B-&gt;C-&gt;D-&gt;A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230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PASS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230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18.89s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230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230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0.05 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230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 A-&gt;C-&gt;B-&gt;D-&gt;A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230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PASS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230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24.57s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230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230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0.02 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230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 任务3路线 x4 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230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PASS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230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96.64s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230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--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230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0.03 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983480" y="3703320"/>
            <a:ext cx="3703320" cy="713232"/>
          </a:xfrm>
          <a:prstGeom prst="rect">
            <a:avLst>
              <a:gd name="adj" fmla="val 10256"/>
            </a:avLst>
          </a:prstGeom>
          <a:solidFill>
            <a:srgbClr val="023047"/>
          </a:solidFill>
          <a:ln/>
        </p:spPr>
      </p:sp>
      <p:sp>
        <p:nvSpPr>
          <p:cNvPr id="8" name="Text 4"/>
          <p:cNvSpPr/>
          <p:nvPr/>
        </p:nvSpPr>
        <p:spPr>
          <a:xfrm>
            <a:off x="5138928" y="38039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8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停车误差全部小于 6 cm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138928" y="40782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四任务零摔倒 (fallen: false)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45262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数据来源: race --all 实测输出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503920" y="4663440"/>
            <a:ext cx="384048" cy="274320"/>
          </a:xfrm>
          <a:prstGeom prst="rect">
            <a:avLst>
              <a:gd name="adj" fmla="val 16667"/>
            </a:avLst>
          </a:prstGeom>
          <a:solidFill>
            <a:srgbClr val="E8F1F5"/>
          </a:solidFill>
          <a:ln/>
        </p:spPr>
      </p:sp>
      <p:sp>
        <p:nvSpPr>
          <p:cNvPr id="12" name="Text 8"/>
          <p:cNvSpPr/>
          <p:nvPr/>
        </p:nvSpPr>
        <p:spPr>
          <a:xfrm>
            <a:off x="8503920" y="46634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浏览器查看器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three.js 实时渲染, 30Hz 状态帧, 一条命令拉起</a:t>
            </a:r>
            <a:endParaRPr lang="en-US" sz="1200" dirty="0"/>
          </a:p>
        </p:txBody>
      </p:sp>
      <p:pic>
        <p:nvPicPr>
          <p:cNvPr id="4" name="Image 0" descr="3D twin viewer: task 1 grad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5440680" cy="3063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43000"/>
            <a:ext cx="5440680" cy="30632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5C6B7A"/>
            </a:solidFill>
            <a:prstDash val="solid"/>
          </a:ln>
        </p:spPr>
      </p:sp>
      <p:pic>
        <p:nvPicPr>
          <p:cNvPr id="6" name="Image 1" descr="8-channel line sensor array close-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43000"/>
            <a:ext cx="1371600" cy="2743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1143000"/>
            <a:ext cx="137160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5C6B7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543800" y="1143000"/>
            <a:ext cx="1143000" cy="2743200"/>
          </a:xfrm>
          <a:prstGeom prst="rect">
            <a:avLst>
              <a:gd name="adj" fmla="val 6400"/>
            </a:avLst>
          </a:prstGeom>
          <a:solidFill>
            <a:srgbClr val="E8F1F5"/>
          </a:solidFill>
          <a:ln/>
        </p:spPr>
      </p:sp>
      <p:sp>
        <p:nvSpPr>
          <p:cNvPr id="9" name="Text 5"/>
          <p:cNvSpPr/>
          <p:nvPr/>
        </p:nvSpPr>
        <p:spPr>
          <a:xfrm>
            <a:off x="7635240" y="12801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画面可读信息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635240" y="16276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实时姿态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7635240" y="19293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Tilt / Pos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7635240" y="22311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Duty 占空比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7635240" y="2532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Enc 编码器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7635240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电池电压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7635240" y="31363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- 8 通道循迹读数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7635240" y="34381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停车判定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57200" y="4315968"/>
            <a:ext cx="7863840" cy="502920"/>
          </a:xfrm>
          <a:prstGeom prst="rect">
            <a:avLst>
              <a:gd name="adj" fmla="val 12727"/>
            </a:avLst>
          </a:prstGeom>
          <a:solidFill>
            <a:srgbClr val="023047"/>
          </a:solidFill>
          <a:ln/>
        </p:spPr>
      </p:sp>
      <p:sp>
        <p:nvSpPr>
          <p:cNvPr id="18" name="Text 14"/>
          <p:cNvSpPr/>
          <p:nvPr/>
        </p:nvSpPr>
        <p:spPr>
          <a:xfrm>
            <a:off x="658368" y="43159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bash tools/demo.sh   -&gt;   http://localhost:5173/?ws=ws://127.0.0.1:8766   (四任务一键切换, 四档回放倍速)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503920" y="4663440"/>
            <a:ext cx="384048" cy="274320"/>
          </a:xfrm>
          <a:prstGeom prst="rect">
            <a:avLst>
              <a:gd name="adj" fmla="val 16667"/>
            </a:avLst>
          </a:prstGeom>
          <a:solidFill>
            <a:srgbClr val="E8F1F5"/>
          </a:solidFill>
          <a:ln/>
        </p:spPr>
      </p:sp>
      <p:sp>
        <p:nvSpPr>
          <p:cNvPr id="20" name="Text 16"/>
          <p:cNvSpPr/>
          <p:nvPr/>
        </p:nvSpPr>
        <p:spPr>
          <a:xfrm>
            <a:off x="8503920" y="46634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工程规模与测试状态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代码量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011680" cy="1005840"/>
          </a:xfrm>
          <a:prstGeom prst="rect">
            <a:avLst>
              <a:gd name="adj" fmla="val 8182"/>
            </a:avLst>
          </a:prstGeom>
          <a:solidFill>
            <a:srgbClr val="E8F1F5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270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B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12,844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98424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行数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20370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 个文件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06040" y="1417320"/>
            <a:ext cx="2011680" cy="1005840"/>
          </a:xfrm>
          <a:prstGeom prst="rect">
            <a:avLst>
              <a:gd name="adj" fmla="val 8182"/>
            </a:avLst>
          </a:prstGeom>
          <a:solidFill>
            <a:srgbClr val="E8F1F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5270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B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43200" y="198424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固件文件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220370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交叉编译至 F407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2011680" cy="1005840"/>
          </a:xfrm>
          <a:prstGeom prst="rect">
            <a:avLst>
              <a:gd name="adj" fmla="val 8182"/>
            </a:avLst>
          </a:prstGeom>
          <a:solidFill>
            <a:srgbClr val="E8F1F5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6700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B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94360" y="312724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 C# 外设模型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34670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Renode 侧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06040" y="2560320"/>
            <a:ext cx="2011680" cy="1005840"/>
          </a:xfrm>
          <a:prstGeom prst="rect">
            <a:avLst>
              <a:gd name="adj" fmla="val 8182"/>
            </a:avLst>
          </a:prstGeom>
          <a:solidFill>
            <a:srgbClr val="E8F1F5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26700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B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227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743200" y="312724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测试函数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334670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个测试文件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92040" y="1051560"/>
            <a:ext cx="3794760" cy="3108960"/>
          </a:xfrm>
          <a:prstGeom prst="rect">
            <a:avLst>
              <a:gd name="adj" fmla="val 2941"/>
            </a:avLst>
          </a:prstGeom>
          <a:solidFill>
            <a:srgbClr val="023047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1234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测试现状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120640" y="169164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passed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20640" y="1929384"/>
            <a:ext cx="3291840" cy="164592"/>
          </a:xfrm>
          <a:prstGeom prst="rect">
            <a:avLst>
              <a:gd name="adj" fmla="val 16667"/>
            </a:avLst>
          </a:prstGeom>
          <a:solidFill>
            <a:srgbClr val="F7FAFC"/>
          </a:solidFill>
          <a:ln/>
        </p:spPr>
      </p:sp>
      <p:sp>
        <p:nvSpPr>
          <p:cNvPr id="24" name="Shape 22"/>
          <p:cNvSpPr/>
          <p:nvPr/>
        </p:nvSpPr>
        <p:spPr>
          <a:xfrm>
            <a:off x="5120640" y="1929384"/>
            <a:ext cx="3200400" cy="164592"/>
          </a:xfrm>
          <a:prstGeom prst="rect">
            <a:avLst>
              <a:gd name="adj" fmla="val 16667"/>
            </a:avLst>
          </a:prstGeom>
          <a:solidFill>
            <a:srgbClr val="FB8500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0" y="16916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0640" y="22585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 skipped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20640" y="2496312"/>
            <a:ext cx="3291840" cy="164592"/>
          </a:xfrm>
          <a:prstGeom prst="rect">
            <a:avLst>
              <a:gd name="adj" fmla="val 16667"/>
            </a:avLst>
          </a:prstGeom>
          <a:solidFill>
            <a:srgbClr val="F7FAFC"/>
          </a:solidFill>
          <a:ln/>
        </p:spPr>
      </p:sp>
      <p:sp>
        <p:nvSpPr>
          <p:cNvPr id="28" name="Shape 26"/>
          <p:cNvSpPr/>
          <p:nvPr/>
        </p:nvSpPr>
        <p:spPr>
          <a:xfrm>
            <a:off x="5120640" y="2496312"/>
            <a:ext cx="1874520" cy="164592"/>
          </a:xfrm>
          <a:prstGeom prst="rect">
            <a:avLst>
              <a:gd name="adj" fmla="val 16667"/>
            </a:avLst>
          </a:prstGeom>
          <a:solidFill>
            <a:srgbClr val="5C6B7A"/>
          </a:solidFill>
          <a:ln/>
        </p:spPr>
      </p:sp>
      <p:sp>
        <p:nvSpPr>
          <p:cNvPr id="29" name="Text 27"/>
          <p:cNvSpPr/>
          <p:nvPr/>
        </p:nvSpPr>
        <p:spPr>
          <a:xfrm>
            <a:off x="7955280" y="22585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20640" y="282549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 failed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20640" y="3063240"/>
            <a:ext cx="3291840" cy="164592"/>
          </a:xfrm>
          <a:prstGeom prst="rect">
            <a:avLst>
              <a:gd name="adj" fmla="val 16667"/>
            </a:avLst>
          </a:prstGeom>
          <a:solidFill>
            <a:srgbClr val="F7FAFC"/>
          </a:solidFill>
          <a:ln/>
        </p:spPr>
      </p:sp>
      <p:sp>
        <p:nvSpPr>
          <p:cNvPr id="32" name="Shape 30"/>
          <p:cNvSpPr/>
          <p:nvPr/>
        </p:nvSpPr>
        <p:spPr>
          <a:xfrm>
            <a:off x="5120640" y="3063240"/>
            <a:ext cx="182880" cy="164592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7955280" y="28254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120640" y="3520440"/>
            <a:ext cx="3337560" cy="0"/>
          </a:xfrm>
          <a:prstGeom prst="line">
            <a:avLst/>
          </a:prstGeom>
          <a:noFill/>
          <a:ln w="9525">
            <a:solidFill>
              <a:srgbClr val="5C6B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0" y="36118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8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个失败均为环境限制, 不是缺陷: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0" y="37673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个需 portable Renode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1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个是 macOS 只解析 PE 镜像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503920" y="4663440"/>
            <a:ext cx="384048" cy="274320"/>
          </a:xfrm>
          <a:prstGeom prst="rect">
            <a:avLst>
              <a:gd name="adj" fmla="val 16667"/>
            </a:avLst>
          </a:prstGeom>
          <a:solidFill>
            <a:srgbClr val="E8F1F5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B8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物理是真的, 固件是真的, 参数不会失配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577840" cy="603504"/>
          </a:xfrm>
          <a:prstGeom prst="rect">
            <a:avLst>
              <a:gd name="adj" fmla="val 10606"/>
            </a:avLst>
          </a:prstGeom>
          <a:solidFill>
            <a:srgbClr val="F7FAF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54480"/>
            <a:ext cx="64008" cy="603504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6184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真实固件在环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188366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Renode 执行的就是能烧板子的那份 ELF, 不是替身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5577840" cy="603504"/>
          </a:xfrm>
          <a:prstGeom prst="rect">
            <a:avLst>
              <a:gd name="adj" fmla="val 10606"/>
            </a:avLst>
          </a:prstGeom>
          <a:solidFill>
            <a:srgbClr val="F7FAFC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267712"/>
            <a:ext cx="64008" cy="603504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3317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三槽同接口可对比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" y="259689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逐点一致即证明电脑上调的参数等于真车行为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980944"/>
            <a:ext cx="5577840" cy="603504"/>
          </a:xfrm>
          <a:prstGeom prst="rect">
            <a:avLst>
              <a:gd name="adj" fmla="val 10606"/>
            </a:avLst>
          </a:prstGeom>
          <a:solidFill>
            <a:srgbClr val="F7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980944"/>
            <a:ext cx="64008" cy="603504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0449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参数机器保证不失配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9808" y="331012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fwconfig --check 门 + 21 处来源标注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694176"/>
            <a:ext cx="5577840" cy="603504"/>
          </a:xfrm>
          <a:prstGeom prst="rect">
            <a:avLst>
              <a:gd name="adj" fmla="val 10606"/>
            </a:avLst>
          </a:prstGeom>
          <a:solidFill>
            <a:srgbClr val="F7FAFC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694176"/>
            <a:ext cx="64008" cy="603504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7581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四任务全部通过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" y="4023360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停车误差 &lt; 6 cm, 零摔倒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92240" y="1554480"/>
            <a:ext cx="2194560" cy="2743200"/>
          </a:xfrm>
          <a:prstGeom prst="rect">
            <a:avLst>
              <a:gd name="adj" fmla="val 4167"/>
            </a:avLst>
          </a:prstGeom>
          <a:solidFill>
            <a:srgbClr val="FB8500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2103120"/>
            <a:ext cx="1874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</a:t>
            </a:r>
            <a:endParaRPr lang="en-US" sz="8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sync</a:t>
            </a:r>
            <a:endParaRPr lang="en-US" sz="8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tools/fetch_vendor.sh</a:t>
            </a:r>
            <a:endParaRPr lang="en-US" sz="8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-m race --all</a:t>
            </a:r>
            <a:endParaRPr lang="en-US" sz="8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tools/demo.sh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675120" y="3931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License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github.com/rim5432/mujoco-renode-twin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84048" cy="274320"/>
          </a:xfrm>
          <a:prstGeom prst="rect">
            <a:avLst>
              <a:gd name="adj" fmla="val 16667"/>
            </a:avLst>
          </a:prstGeom>
          <a:solidFill>
            <a:srgbClr val="FB8500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Two-wheel balancing race car digital twin</dc:title>
  <dc:subject>PptxGenJS Presentation</dc:subject>
  <dc:creator>rim5432</dc:creator>
  <cp:lastModifiedBy>rim5432</cp:lastModifiedBy>
  <cp:revision>1</cp:revision>
  <dcterms:created xsi:type="dcterms:W3CDTF">2026-10-10T06:53:11Z</dcterms:created>
  <dcterms:modified xsi:type="dcterms:W3CDTF">2026-10-10T06:53:11Z</dcterms:modified>
</cp:coreProperties>
</file>